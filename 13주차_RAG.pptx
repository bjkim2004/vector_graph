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1601" r:id="rId2"/>
    <p:sldId id="1642" r:id="rId3"/>
    <p:sldId id="1669" r:id="rId4"/>
    <p:sldId id="1707" r:id="rId5"/>
    <p:sldId id="1670" r:id="rId6"/>
    <p:sldId id="1671" r:id="rId7"/>
    <p:sldId id="1675" r:id="rId8"/>
    <p:sldId id="1705" r:id="rId9"/>
    <p:sldId id="1672" r:id="rId10"/>
    <p:sldId id="1673" r:id="rId11"/>
    <p:sldId id="1674" r:id="rId12"/>
    <p:sldId id="1696" r:id="rId13"/>
    <p:sldId id="1668" r:id="rId14"/>
    <p:sldId id="1701" r:id="rId15"/>
    <p:sldId id="1702" r:id="rId16"/>
    <p:sldId id="1703" r:id="rId17"/>
    <p:sldId id="1704" r:id="rId18"/>
    <p:sldId id="1700" r:id="rId19"/>
    <p:sldId id="1697" r:id="rId20"/>
    <p:sldId id="1698" r:id="rId21"/>
    <p:sldId id="1699" r:id="rId22"/>
    <p:sldId id="1706" r:id="rId23"/>
    <p:sldId id="1710" r:id="rId24"/>
    <p:sldId id="1711" r:id="rId25"/>
    <p:sldId id="1708" r:id="rId26"/>
    <p:sldId id="1709" r:id="rId27"/>
  </p:sldIdLst>
  <p:sldSz cx="12192000" cy="6858000"/>
  <p:notesSz cx="6858000" cy="9144000"/>
  <p:embeddedFontLst>
    <p:embeddedFont>
      <p:font typeface="KoPubWorld돋움체 Medium" panose="00000600000000000000" pitchFamily="2" charset="-127"/>
      <p:regular r:id="rId29"/>
    </p:embeddedFont>
    <p:embeddedFont>
      <p:font typeface="나눔고딕" panose="020D0604000000000000" pitchFamily="50" charset="-127"/>
      <p:regular r:id="rId30"/>
      <p:bold r:id="rId31"/>
    </p:embeddedFont>
    <p:embeddedFont>
      <p:font typeface="나눔스퀘어 Bold" panose="020B0600000101010101" pitchFamily="50" charset="-127"/>
      <p:bold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978" userDrawn="1">
          <p15:clr>
            <a:srgbClr val="A4A3A4"/>
          </p15:clr>
        </p15:guide>
        <p15:guide id="2" pos="5972" userDrawn="1">
          <p15:clr>
            <a:srgbClr val="A4A3A4"/>
          </p15:clr>
        </p15:guide>
        <p15:guide id="3" orient="horz" pos="3385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orient="horz" pos="867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06" userDrawn="1">
          <p15:clr>
            <a:srgbClr val="A4A3A4"/>
          </p15:clr>
        </p15:guide>
        <p15:guide id="9" orient="horz" pos="10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경선" initials="김경" lastIdx="1" clrIdx="0">
    <p:extLst>
      <p:ext uri="{19B8F6BF-5375-455C-9EA6-DF929625EA0E}">
        <p15:presenceInfo xmlns:p15="http://schemas.microsoft.com/office/powerpoint/2012/main" userId="b21f20f96f89b76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6850"/>
    <a:srgbClr val="2A73B6"/>
    <a:srgbClr val="4B5671"/>
    <a:srgbClr val="D3D1D6"/>
    <a:srgbClr val="708BC6"/>
    <a:srgbClr val="5F5EA1"/>
    <a:srgbClr val="B2B8C5"/>
    <a:srgbClr val="D87251"/>
    <a:srgbClr val="DA9A9A"/>
    <a:srgbClr val="DE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0" autoAdjust="0"/>
    <p:restoredTop sz="94660"/>
  </p:normalViewPr>
  <p:slideViewPr>
    <p:cSldViewPr snapToGrid="0">
      <p:cViewPr varScale="1">
        <p:scale>
          <a:sx n="97" d="100"/>
          <a:sy n="97" d="100"/>
        </p:scale>
        <p:origin x="548" y="284"/>
      </p:cViewPr>
      <p:guideLst>
        <p:guide pos="2978"/>
        <p:guide pos="5972"/>
        <p:guide orient="horz" pos="3385"/>
        <p:guide orient="horz" pos="572"/>
        <p:guide orient="horz" pos="867"/>
        <p:guide orient="horz" pos="981"/>
        <p:guide orient="horz" pos="4065"/>
        <p:guide pos="506"/>
        <p:guide orient="horz" pos="10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C68E5-E584-4201-B07F-41281097F975}" type="datetimeFigureOut">
              <a:rPr lang="ko-KR" altLang="en-US" smtClean="0"/>
              <a:pPr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D6E2A-247A-4D58-805E-D96C39E332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83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D6E2A-247A-4D58-805E-D96C39E3325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85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149F9E-DBF9-4160-A878-5B6B9F31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F1CA-2262-4E88-BC49-8AA3A2A31AE1}" type="datetimeFigureOut">
              <a:rPr lang="ko-KR" altLang="en-US" smtClean="0"/>
              <a:pPr/>
              <a:t>2025-11-15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6A3851-7954-447F-B9F1-7A0918CA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30928C-81C8-4F2F-B08D-D2771C01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16C46-5343-41D1-886E-015E4E5669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B8C900E-81E6-4A1E-A184-7BBA21A4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4" y="136527"/>
            <a:ext cx="11105560" cy="447936"/>
          </a:xfrm>
        </p:spPr>
        <p:txBody>
          <a:bodyPr>
            <a:normAutofit/>
          </a:bodyPr>
          <a:lstStyle>
            <a:lvl1pPr>
              <a:defRPr sz="2400" spc="-100" baseline="0">
                <a:solidFill>
                  <a:srgbClr val="3E3C65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555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실내, 노트북, 컴퓨터, 사람이(가) 표시된 사진&#10;&#10;자동 생성된 설명">
            <a:extLst>
              <a:ext uri="{FF2B5EF4-FFF2-40B4-BE49-F238E27FC236}">
                <a16:creationId xmlns:a16="http://schemas.microsoft.com/office/drawing/2014/main" id="{FBE74AB5-3167-4A81-AAF5-D073208C5C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8" t="15061" r="15298" b="30917"/>
          <a:stretch/>
        </p:blipFill>
        <p:spPr>
          <a:xfrm>
            <a:off x="3" y="2"/>
            <a:ext cx="9650293" cy="4166883"/>
          </a:xfrm>
          <a:custGeom>
            <a:avLst/>
            <a:gdLst>
              <a:gd name="connsiteX0" fmla="*/ 0 w 7840863"/>
              <a:gd name="connsiteY0" fmla="*/ 0 h 4166883"/>
              <a:gd name="connsiteX1" fmla="*/ 7840863 w 7840863"/>
              <a:gd name="connsiteY1" fmla="*/ 0 h 4166883"/>
              <a:gd name="connsiteX2" fmla="*/ 7840863 w 7840863"/>
              <a:gd name="connsiteY2" fmla="*/ 3697109 h 4166883"/>
              <a:gd name="connsiteX3" fmla="*/ 7465764 w 7840863"/>
              <a:gd name="connsiteY3" fmla="*/ 4157339 h 4166883"/>
              <a:gd name="connsiteX4" fmla="*/ 7371093 w 7840863"/>
              <a:gd name="connsiteY4" fmla="*/ 4166883 h 4166883"/>
              <a:gd name="connsiteX5" fmla="*/ 0 w 7840863"/>
              <a:gd name="connsiteY5" fmla="*/ 4166883 h 416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40863" h="4166883">
                <a:moveTo>
                  <a:pt x="0" y="0"/>
                </a:moveTo>
                <a:lnTo>
                  <a:pt x="7840863" y="0"/>
                </a:lnTo>
                <a:lnTo>
                  <a:pt x="7840863" y="3697109"/>
                </a:lnTo>
                <a:cubicBezTo>
                  <a:pt x="7840863" y="3924127"/>
                  <a:pt x="7679833" y="4113535"/>
                  <a:pt x="7465764" y="4157339"/>
                </a:cubicBezTo>
                <a:lnTo>
                  <a:pt x="7371093" y="4166883"/>
                </a:lnTo>
                <a:lnTo>
                  <a:pt x="0" y="4166883"/>
                </a:lnTo>
                <a:close/>
              </a:path>
            </a:pathLst>
          </a:custGeom>
        </p:spPr>
      </p:pic>
      <p:sp>
        <p:nvSpPr>
          <p:cNvPr id="22" name="사각형: 둥근 한쪽 모서리 21">
            <a:extLst>
              <a:ext uri="{FF2B5EF4-FFF2-40B4-BE49-F238E27FC236}">
                <a16:creationId xmlns:a16="http://schemas.microsoft.com/office/drawing/2014/main" id="{DC25BA2F-C402-A4D7-A105-FE871BFCF9CF}"/>
              </a:ext>
            </a:extLst>
          </p:cNvPr>
          <p:cNvSpPr/>
          <p:nvPr/>
        </p:nvSpPr>
        <p:spPr>
          <a:xfrm rot="5400000">
            <a:off x="-1640365" y="1640365"/>
            <a:ext cx="4166884" cy="886154"/>
          </a:xfrm>
          <a:prstGeom prst="round1Rect">
            <a:avLst>
              <a:gd name="adj" fmla="val 50000"/>
            </a:avLst>
          </a:prstGeom>
          <a:solidFill>
            <a:srgbClr val="03246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00" dirty="0">
              <a:latin typeface="KoPubWorld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3463F1-DBA1-2371-6FCD-22840EDE5CB1}"/>
              </a:ext>
            </a:extLst>
          </p:cNvPr>
          <p:cNvSpPr/>
          <p:nvPr/>
        </p:nvSpPr>
        <p:spPr>
          <a:xfrm>
            <a:off x="0" y="0"/>
            <a:ext cx="443077" cy="6858000"/>
          </a:xfrm>
          <a:prstGeom prst="rect">
            <a:avLst/>
          </a:prstGeom>
          <a:solidFill>
            <a:srgbClr val="4949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00" dirty="0">
              <a:solidFill>
                <a:srgbClr val="03246D"/>
              </a:solidFill>
              <a:latin typeface="KoPubWorld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사각형: 둥근 한쪽 모서리 9">
            <a:extLst>
              <a:ext uri="{FF2B5EF4-FFF2-40B4-BE49-F238E27FC236}">
                <a16:creationId xmlns:a16="http://schemas.microsoft.com/office/drawing/2014/main" id="{65B013DB-3A87-D950-7051-FCF514E9EA78}"/>
              </a:ext>
            </a:extLst>
          </p:cNvPr>
          <p:cNvSpPr/>
          <p:nvPr/>
        </p:nvSpPr>
        <p:spPr>
          <a:xfrm rot="16200000">
            <a:off x="8319923" y="2985923"/>
            <a:ext cx="6858000" cy="886154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00" dirty="0">
              <a:latin typeface="KoPubWorld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C16653-D88A-88F6-77C5-6514BD8E4415}"/>
              </a:ext>
            </a:extLst>
          </p:cNvPr>
          <p:cNvSpPr/>
          <p:nvPr/>
        </p:nvSpPr>
        <p:spPr>
          <a:xfrm>
            <a:off x="11748923" y="0"/>
            <a:ext cx="443077" cy="6858000"/>
          </a:xfrm>
          <a:prstGeom prst="rect">
            <a:avLst/>
          </a:prstGeom>
          <a:solidFill>
            <a:srgbClr val="4949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00" dirty="0">
              <a:solidFill>
                <a:srgbClr val="03246D"/>
              </a:solidFill>
              <a:latin typeface="KoPubWorld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6B1C7E-DC92-791C-C83A-7B6FC1CD2E89}"/>
              </a:ext>
            </a:extLst>
          </p:cNvPr>
          <p:cNvSpPr/>
          <p:nvPr/>
        </p:nvSpPr>
        <p:spPr>
          <a:xfrm>
            <a:off x="886155" y="4780584"/>
            <a:ext cx="3456000" cy="72000"/>
          </a:xfrm>
          <a:prstGeom prst="rect">
            <a:avLst/>
          </a:prstGeom>
          <a:solidFill>
            <a:srgbClr val="0324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00" dirty="0">
              <a:solidFill>
                <a:srgbClr val="03246D"/>
              </a:solidFill>
              <a:latin typeface="KoPubWorld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1C4C48C-948B-8223-C708-07C09681A84F}"/>
              </a:ext>
            </a:extLst>
          </p:cNvPr>
          <p:cNvCxnSpPr>
            <a:cxnSpLocks/>
          </p:cNvCxnSpPr>
          <p:nvPr/>
        </p:nvCxnSpPr>
        <p:spPr>
          <a:xfrm>
            <a:off x="4074288" y="4816584"/>
            <a:ext cx="3810462" cy="0"/>
          </a:xfrm>
          <a:prstGeom prst="line">
            <a:avLst/>
          </a:prstGeom>
          <a:ln w="12700">
            <a:solidFill>
              <a:srgbClr val="032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8784" y="6091552"/>
            <a:ext cx="1805524" cy="53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09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574F82-0418-42DF-B340-CB7E083B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8A8A14-EF43-48B2-B5C7-72DD4FDEB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5A3EA-799A-4803-A8FA-3B70BDC82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9F55F1CA-2262-4E88-BC49-8AA3A2A31AE1}" type="datetimeFigureOut">
              <a:rPr lang="ko-KR" altLang="en-US" smtClean="0"/>
              <a:pPr/>
              <a:t>2025-11-15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B7B34-CF18-4F3C-8C9C-E9480B39E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91642-B07B-4D92-9303-4E01BCFC7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1416C46-5343-41D1-886E-015E4E56692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07EB11-3497-4564-84CD-6C0F86231B12}"/>
              </a:ext>
            </a:extLst>
          </p:cNvPr>
          <p:cNvSpPr/>
          <p:nvPr userDrawn="1"/>
        </p:nvSpPr>
        <p:spPr>
          <a:xfrm>
            <a:off x="9696261" y="671983"/>
            <a:ext cx="2495739" cy="292224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320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81" r:id="rId2"/>
  </p:sldLayoutIdLst>
  <p:txStyles>
    <p:titleStyle>
      <a:lvl1pPr algn="l" defTabSz="91433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8584" indent="-228584" algn="l" defTabSz="91433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75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291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08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247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412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4CE8D-0D70-3F57-F86C-617179689272}"/>
              </a:ext>
            </a:extLst>
          </p:cNvPr>
          <p:cNvSpPr txBox="1"/>
          <p:nvPr/>
        </p:nvSpPr>
        <p:spPr>
          <a:xfrm>
            <a:off x="1687000" y="5353649"/>
            <a:ext cx="7258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solidFill>
                  <a:srgbClr val="03246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RAG(Retrieval-Augmented Geration) </a:t>
            </a:r>
            <a:endParaRPr lang="ko-KR" altLang="en-US" sz="3200" dirty="0">
              <a:solidFill>
                <a:srgbClr val="03246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13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1632155" cy="461665"/>
            <a:chOff x="421714" y="859471"/>
            <a:chExt cx="1632155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1431802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2400" b="1" spc="-100" dirty="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개요</a:t>
              </a:r>
            </a:p>
          </p:txBody>
        </p:sp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73C27BD-6AE4-48ED-8824-54D01783FCB2}"/>
              </a:ext>
            </a:extLst>
          </p:cNvPr>
          <p:cNvSpPr/>
          <p:nvPr/>
        </p:nvSpPr>
        <p:spPr>
          <a:xfrm>
            <a:off x="2204617" y="1697130"/>
            <a:ext cx="7924227" cy="3062518"/>
          </a:xfrm>
          <a:prstGeom prst="rect">
            <a:avLst/>
          </a:prstGeom>
          <a:solidFill>
            <a:srgbClr val="D26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6615B25-9C13-414E-8A86-78452BC5F7EA}"/>
              </a:ext>
            </a:extLst>
          </p:cNvPr>
          <p:cNvSpPr/>
          <p:nvPr/>
        </p:nvSpPr>
        <p:spPr>
          <a:xfrm>
            <a:off x="2287527" y="2269747"/>
            <a:ext cx="7751835" cy="2378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spc="-100" dirty="0">
              <a:solidFill>
                <a:srgbClr val="585858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6615B25-9C13-414E-8A86-78452BC5F7EA}"/>
              </a:ext>
            </a:extLst>
          </p:cNvPr>
          <p:cNvSpPr/>
          <p:nvPr/>
        </p:nvSpPr>
        <p:spPr>
          <a:xfrm>
            <a:off x="2287527" y="3969394"/>
            <a:ext cx="7758407" cy="523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2000" b="1" spc="-100" dirty="0">
              <a:solidFill>
                <a:srgbClr val="585858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C2C30AC-EC04-47FD-AF93-E2AD872650CB}"/>
              </a:ext>
            </a:extLst>
          </p:cNvPr>
          <p:cNvSpPr/>
          <p:nvPr/>
        </p:nvSpPr>
        <p:spPr>
          <a:xfrm>
            <a:off x="2204617" y="1763904"/>
            <a:ext cx="79242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RAG(Retrieval-Augmented Generation)</a:t>
            </a:r>
            <a:r>
              <a:rPr lang="ko-KR" altLang="en-US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란</a:t>
            </a:r>
            <a:r>
              <a:rPr lang="en-US" altLang="ko-KR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7BE2884-CC38-4EBC-AC6F-50C6E961F33C}"/>
              </a:ext>
            </a:extLst>
          </p:cNvPr>
          <p:cNvSpPr/>
          <p:nvPr/>
        </p:nvSpPr>
        <p:spPr>
          <a:xfrm>
            <a:off x="3341086" y="2481495"/>
            <a:ext cx="5651286" cy="70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algn="ctr"/>
            <a:r>
              <a:rPr lang="ko-KR" altLang="en-US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정보 검색 기능을 </a:t>
            </a:r>
            <a:r>
              <a:rPr lang="en-US" altLang="ko-KR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LLM</a:t>
            </a:r>
            <a:r>
              <a:rPr lang="ko-KR" altLang="en-US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 통합한</a:t>
            </a:r>
            <a:endParaRPr lang="en-US" altLang="ko-KR" sz="2000" b="1" spc="-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175" algn="ctr"/>
            <a:r>
              <a:rPr lang="ko-KR" altLang="en-US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하이브리드 인공지능 아키텍처</a:t>
            </a:r>
            <a:endParaRPr lang="ko-KR" altLang="en-US" sz="2000" b="1" spc="-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그래픽 14">
            <a:extLst>
              <a:ext uri="{FF2B5EF4-FFF2-40B4-BE49-F238E27FC236}">
                <a16:creationId xmlns:a16="http://schemas.microsoft.com/office/drawing/2014/main" id="{D199D527-ACBA-42D2-833D-990F934A22F2}"/>
              </a:ext>
            </a:extLst>
          </p:cNvPr>
          <p:cNvSpPr/>
          <p:nvPr/>
        </p:nvSpPr>
        <p:spPr>
          <a:xfrm rot="5400000">
            <a:off x="5985753" y="3290275"/>
            <a:ext cx="361951" cy="337397"/>
          </a:xfrm>
          <a:custGeom>
            <a:avLst/>
            <a:gdLst>
              <a:gd name="connsiteX0" fmla="*/ 0 w 361950"/>
              <a:gd name="connsiteY0" fmla="*/ 44957 h 337397"/>
              <a:gd name="connsiteX1" fmla="*/ 45168 w 361950"/>
              <a:gd name="connsiteY1" fmla="*/ 15 h 337397"/>
              <a:gd name="connsiteX2" fmla="*/ 213053 w 361950"/>
              <a:gd name="connsiteY2" fmla="*/ 168699 h 337397"/>
              <a:gd name="connsiteX3" fmla="*/ 45168 w 361950"/>
              <a:gd name="connsiteY3" fmla="*/ 337398 h 337397"/>
              <a:gd name="connsiteX4" fmla="*/ 0 w 361950"/>
              <a:gd name="connsiteY4" fmla="*/ 292441 h 337397"/>
              <a:gd name="connsiteX5" fmla="*/ 123169 w 361950"/>
              <a:gd name="connsiteY5" fmla="*/ 168699 h 337397"/>
              <a:gd name="connsiteX6" fmla="*/ 0 w 361950"/>
              <a:gd name="connsiteY6" fmla="*/ 44957 h 337397"/>
              <a:gd name="connsiteX7" fmla="*/ 272066 w 361950"/>
              <a:gd name="connsiteY7" fmla="*/ 168699 h 337397"/>
              <a:gd name="connsiteX8" fmla="*/ 148897 w 361950"/>
              <a:gd name="connsiteY8" fmla="*/ 292441 h 337397"/>
              <a:gd name="connsiteX9" fmla="*/ 194066 w 361950"/>
              <a:gd name="connsiteY9" fmla="*/ 337383 h 337397"/>
              <a:gd name="connsiteX10" fmla="*/ 361950 w 361950"/>
              <a:gd name="connsiteY10" fmla="*/ 168699 h 337397"/>
              <a:gd name="connsiteX11" fmla="*/ 194066 w 361950"/>
              <a:gd name="connsiteY11" fmla="*/ 0 h 337397"/>
              <a:gd name="connsiteX12" fmla="*/ 148897 w 361950"/>
              <a:gd name="connsiteY12" fmla="*/ 44942 h 337397"/>
              <a:gd name="connsiteX13" fmla="*/ 272066 w 361950"/>
              <a:gd name="connsiteY13" fmla="*/ 168699 h 3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1950" h="337397">
                <a:moveTo>
                  <a:pt x="0" y="44957"/>
                </a:moveTo>
                <a:lnTo>
                  <a:pt x="45168" y="15"/>
                </a:lnTo>
                <a:lnTo>
                  <a:pt x="213053" y="168699"/>
                </a:lnTo>
                <a:lnTo>
                  <a:pt x="45168" y="337398"/>
                </a:lnTo>
                <a:lnTo>
                  <a:pt x="0" y="292441"/>
                </a:lnTo>
                <a:lnTo>
                  <a:pt x="123169" y="168699"/>
                </a:lnTo>
                <a:lnTo>
                  <a:pt x="0" y="44957"/>
                </a:lnTo>
                <a:close/>
                <a:moveTo>
                  <a:pt x="272066" y="168699"/>
                </a:moveTo>
                <a:lnTo>
                  <a:pt x="148897" y="292441"/>
                </a:lnTo>
                <a:lnTo>
                  <a:pt x="194066" y="337383"/>
                </a:lnTo>
                <a:lnTo>
                  <a:pt x="361950" y="168699"/>
                </a:lnTo>
                <a:lnTo>
                  <a:pt x="194066" y="0"/>
                </a:lnTo>
                <a:lnTo>
                  <a:pt x="148897" y="44942"/>
                </a:lnTo>
                <a:lnTo>
                  <a:pt x="272066" y="168699"/>
                </a:lnTo>
                <a:close/>
              </a:path>
            </a:pathLst>
          </a:custGeom>
          <a:solidFill>
            <a:srgbClr val="B2B8C5"/>
          </a:solidFill>
          <a:ln w="15081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BE2884-CC38-4EBC-AC6F-50C6E961F33C}"/>
              </a:ext>
            </a:extLst>
          </p:cNvPr>
          <p:cNvSpPr/>
          <p:nvPr/>
        </p:nvSpPr>
        <p:spPr>
          <a:xfrm>
            <a:off x="2692868" y="3748871"/>
            <a:ext cx="7094286" cy="709200"/>
          </a:xfrm>
          <a:prstGeom prst="rect">
            <a:avLst/>
          </a:prstGeom>
          <a:solidFill>
            <a:srgbClr val="708B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 생성의 정확성</a:t>
            </a:r>
            <a:r>
              <a:rPr lang="en-US" altLang="ko-KR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최신성</a:t>
            </a:r>
            <a:r>
              <a:rPr lang="en-US" altLang="ko-KR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검증 가능성을 향상</a:t>
            </a:r>
            <a:endParaRPr lang="ko-KR" altLang="en-US" sz="2000" b="1" spc="-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734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1843752" cy="461665"/>
            <a:chOff x="421714" y="859471"/>
            <a:chExt cx="1843752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1643399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LLM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한계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065" y="1491186"/>
            <a:ext cx="7518401" cy="474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5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2744639" cy="461665"/>
            <a:chOff x="421714" y="859471"/>
            <a:chExt cx="2744639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25442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독립형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LLM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한계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034" y="2354571"/>
            <a:ext cx="9651433" cy="2764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999" y="3429000"/>
            <a:ext cx="96103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0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LLM</a:t>
            </a:r>
            <a:endParaRPr lang="ko-KR" altLang="en-US" sz="2400" b="1" spc="-100">
              <a:solidFill>
                <a:srgbClr val="383C56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227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2459305" cy="461665"/>
            <a:chOff x="421714" y="859471"/>
            <a:chExt cx="2459305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2258952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구성요소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50" y="1919026"/>
            <a:ext cx="8097008" cy="4566997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76672" y="1393619"/>
            <a:ext cx="11196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검색기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(Retriever), </a:t>
            </a:r>
            <a:r>
              <a:rPr lang="ko-KR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생성기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(Generator), </a:t>
            </a:r>
            <a:r>
              <a:rPr lang="ko-KR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둘 사이의 상호작용을 포함하는 증강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(Augmentation)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</a:p>
        </p:txBody>
      </p:sp>
    </p:spTree>
    <p:extLst>
      <p:ext uri="{BB962C8B-B14F-4D97-AF65-F5344CB8AC3E}">
        <p14:creationId xmlns:p14="http://schemas.microsoft.com/office/powerpoint/2010/main" val="117058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2735021" cy="461665"/>
            <a:chOff x="421714" y="859471"/>
            <a:chExt cx="2735021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2534668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993835" y="1387269"/>
            <a:ext cx="74179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/>
              <a:t>RAG</a:t>
            </a:r>
            <a:r>
              <a:rPr lang="ko-KR" altLang="en-US"/>
              <a:t>의</a:t>
            </a:r>
            <a:r>
              <a:rPr lang="ko-KR" altLang="ko-KR"/>
              <a:t> 워크플로우는 크게 </a:t>
            </a:r>
            <a:r>
              <a:rPr lang="ko-KR" altLang="ko-KR" b="1"/>
              <a:t>인덱싱</a:t>
            </a:r>
            <a:r>
              <a:rPr lang="en-US" altLang="ko-KR" b="1"/>
              <a:t>(Indexing)</a:t>
            </a:r>
            <a:r>
              <a:rPr lang="en-US" altLang="ko-KR"/>
              <a:t>,</a:t>
            </a:r>
            <a:r>
              <a:rPr lang="en-US" altLang="ko-KR" b="1"/>
              <a:t> </a:t>
            </a:r>
            <a:r>
              <a:rPr lang="ko-KR" altLang="ko-KR" b="1"/>
              <a:t>검색</a:t>
            </a:r>
            <a:r>
              <a:rPr lang="en-US" altLang="ko-KR" b="1"/>
              <a:t>(Retrieval) </a:t>
            </a:r>
            <a:r>
              <a:rPr lang="ko-KR" altLang="en-US" b="1"/>
              <a:t>및 </a:t>
            </a:r>
            <a:br>
              <a:rPr lang="en-US" altLang="ko-KR" b="1"/>
            </a:br>
            <a:r>
              <a:rPr lang="ko-KR" altLang="ko-KR" b="1"/>
              <a:t>증강</a:t>
            </a:r>
            <a:r>
              <a:rPr lang="en-US" altLang="ko-KR" b="1"/>
              <a:t>/</a:t>
            </a:r>
            <a:r>
              <a:rPr lang="ko-KR" altLang="ko-KR" b="1"/>
              <a:t>생성</a:t>
            </a:r>
            <a:r>
              <a:rPr lang="en-US" altLang="ko-KR" b="1"/>
              <a:t>(Augmentation and Generation)</a:t>
            </a:r>
            <a:r>
              <a:rPr lang="ko-KR" altLang="en-US" b="1"/>
              <a:t> 절차로 수행</a:t>
            </a:r>
            <a:endParaRPr lang="ko-KR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88" y="2371681"/>
            <a:ext cx="6319712" cy="360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5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2735021" cy="461665"/>
            <a:chOff x="421714" y="859471"/>
            <a:chExt cx="2735021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2534668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993835" y="1387269"/>
            <a:ext cx="74179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/>
              <a:t>RAG</a:t>
            </a:r>
            <a:r>
              <a:rPr lang="ko-KR" altLang="en-US"/>
              <a:t>의</a:t>
            </a:r>
            <a:r>
              <a:rPr lang="ko-KR" altLang="ko-KR"/>
              <a:t> 워크플로우는 크게 </a:t>
            </a:r>
            <a:r>
              <a:rPr lang="ko-KR" altLang="ko-KR" b="1"/>
              <a:t>인덱싱</a:t>
            </a:r>
            <a:r>
              <a:rPr lang="en-US" altLang="ko-KR" b="1"/>
              <a:t>(Indexing)</a:t>
            </a:r>
            <a:r>
              <a:rPr lang="en-US" altLang="ko-KR"/>
              <a:t>,</a:t>
            </a:r>
            <a:r>
              <a:rPr lang="en-US" altLang="ko-KR" b="1"/>
              <a:t> </a:t>
            </a:r>
            <a:r>
              <a:rPr lang="ko-KR" altLang="ko-KR" b="1"/>
              <a:t>검색</a:t>
            </a:r>
            <a:r>
              <a:rPr lang="en-US" altLang="ko-KR" b="1"/>
              <a:t>(Retrieval) </a:t>
            </a:r>
            <a:r>
              <a:rPr lang="ko-KR" altLang="en-US" b="1"/>
              <a:t>및 </a:t>
            </a:r>
            <a:br>
              <a:rPr lang="en-US" altLang="ko-KR" b="1"/>
            </a:br>
            <a:r>
              <a:rPr lang="ko-KR" altLang="ko-KR" b="1"/>
              <a:t>증강</a:t>
            </a:r>
            <a:r>
              <a:rPr lang="en-US" altLang="ko-KR" b="1"/>
              <a:t>/</a:t>
            </a:r>
            <a:r>
              <a:rPr lang="ko-KR" altLang="ko-KR" b="1"/>
              <a:t>생성</a:t>
            </a:r>
            <a:r>
              <a:rPr lang="en-US" altLang="ko-KR" b="1"/>
              <a:t>(Augmentation and Generation)</a:t>
            </a:r>
            <a:r>
              <a:rPr lang="ko-KR" altLang="en-US" b="1"/>
              <a:t> 절차로 수행</a:t>
            </a:r>
            <a:endParaRPr lang="ko-KR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2276431"/>
            <a:ext cx="848700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39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4854191" cy="461665"/>
            <a:chOff x="421714" y="859471"/>
            <a:chExt cx="4854191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4653838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-LangChain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예시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2276431"/>
            <a:ext cx="8487004" cy="37819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13" y="1393619"/>
            <a:ext cx="11204178" cy="507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8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5238912" cy="461665"/>
            <a:chOff x="421714" y="859471"/>
            <a:chExt cx="5238912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5038559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인덱싱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(Indexing)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62123" y="1638492"/>
            <a:ext cx="10983777" cy="3435157"/>
            <a:chOff x="1190135" y="3515251"/>
            <a:chExt cx="10593481" cy="4919508"/>
          </a:xfrm>
        </p:grpSpPr>
        <p:sp>
          <p:nvSpPr>
            <p:cNvPr id="11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485583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28"/>
              <a:ext cx="8478483" cy="47954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외부 지식 소스를 효율적인 검색을 위해 사전 처리하는 준비 과정</a:t>
              </a:r>
            </a:p>
            <a:p>
              <a:pPr lvl="0" fontAlgn="base" latinLnBrk="0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 전처리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원본 데이터를 정제하고 구조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다양한 형식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(PDF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문서 처리 과정 포함</a:t>
              </a:r>
            </a:p>
            <a:p>
              <a:pPr lvl="0" fontAlgn="base" latinLnBrk="0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청킹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(Chunking)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대량의 문서를 문맥을 유지하면서 더 작고 관리하기 쉬운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Chunk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로 분할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청킹 전략은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RAG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시스템 성능에 중요한 영향</a:t>
              </a:r>
            </a:p>
            <a:p>
              <a:pPr lvl="0" fontAlgn="base" latinLnBrk="0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임베딩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(Embedding)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 청크를 임베딩 모델을 사용하여 벡터 표현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임베딩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으로 변환</a:t>
              </a:r>
            </a:p>
            <a:p>
              <a:pPr lvl="0" fontAlgn="base" latinLnBrk="0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벡터 저장소 인덱싱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(Vector Store Indexing)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생성된 임베딩을 빠른 유사도 검색을 위해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특화된 벡터 데이터베이스에 저장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190135" y="3515251"/>
              <a:ext cx="1687995" cy="4866384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인덱싱</a:t>
              </a:r>
              <a:endPara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(Indexing)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842126" y="3806522"/>
              <a:ext cx="216024" cy="144016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08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4907091" cy="461665"/>
            <a:chOff x="421714" y="859471"/>
            <a:chExt cx="4907091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4706738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(Retrieval)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62123" y="1638492"/>
            <a:ext cx="10983777" cy="2819208"/>
            <a:chOff x="1190135" y="3515251"/>
            <a:chExt cx="10593481" cy="4866384"/>
          </a:xfrm>
        </p:grpSpPr>
        <p:sp>
          <p:nvSpPr>
            <p:cNvPr id="11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485583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29"/>
              <a:ext cx="8478483" cy="3702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추론 시점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 질의 입력 시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관련 정보 검색</a:t>
              </a:r>
              <a:endParaRPr lang="en-US" altLang="ko-KR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질의 처리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(Query Processing)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 질의를 인덱싱 단계와 동일한 임베딩 모델로 임베딩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필요시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질의 변환 또는 확장 기법 사용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가능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유사도 검색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(Similarity Search)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질의 임베딩과 벡터 저장소 내 청크 임베딩 비교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(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주로 코사인 유사도 사용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가장 유사도 높은 상위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개의 청크 검색</a:t>
              </a:r>
              <a:endParaRPr lang="en-US" altLang="ko-KR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190135" y="3515251"/>
              <a:ext cx="1687995" cy="4866384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</a:t>
              </a:r>
              <a:endPara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(Retrieval)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842126" y="3806522"/>
              <a:ext cx="216024" cy="144016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45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8821624" cy="461665"/>
            <a:chOff x="421714" y="859471"/>
            <a:chExt cx="8821624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8621271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워크플로우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증강 및 생성 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(Augmentation and Generation)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46100" y="1638492"/>
            <a:ext cx="11099800" cy="2819208"/>
            <a:chOff x="1078235" y="3515251"/>
            <a:chExt cx="10705381" cy="4866384"/>
          </a:xfrm>
        </p:grpSpPr>
        <p:sp>
          <p:nvSpPr>
            <p:cNvPr id="11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485583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29"/>
              <a:ext cx="8478483" cy="4462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컨텍스트 증강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프롬프트 구성 및 최종 답변 생성</a:t>
              </a:r>
              <a:endParaRPr lang="en-US" altLang="ko-KR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컨텍스트 증강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(Context Augmentation):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검색된 관련 청크들을 원본 사용자 질의와 결합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프롬프트 구성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(Prompt Construction):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결합된 정보를 </a:t>
              </a:r>
              <a: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LLM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생성기를 위해 템플릿을 사용  </a:t>
              </a:r>
              <a:b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하여 프롬프트 형태로 구성</a:t>
              </a:r>
              <a: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응답 합성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(Response Synthesis):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증강된 프롬프트를 생성기 </a:t>
              </a:r>
              <a: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LLM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에 입력하여 </a:t>
              </a:r>
              <a:b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답변 생성</a:t>
              </a:r>
              <a:endParaRPr lang="en-US" altLang="ko-KR" b="1" kern="600" spc="-4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078235" y="3515251"/>
              <a:ext cx="1799895" cy="4866384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증강 및 생성 </a:t>
              </a:r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(Augmentation Generation)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842126" y="3806522"/>
              <a:ext cx="216024" cy="144016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9375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/>
              <a:t>RAG(Retrieval-Augmented Generation) </a:t>
            </a:r>
            <a:r>
              <a:rPr lang="ko-KR" altLang="en-US" b="1"/>
              <a:t>개요</a:t>
            </a:r>
            <a:endParaRPr lang="ko-KR" altLang="en-US" b="1" dirty="0"/>
          </a:p>
        </p:txBody>
      </p:sp>
      <p:grpSp>
        <p:nvGrpSpPr>
          <p:cNvPr id="7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713550"/>
            <a:ext cx="4261080" cy="461665"/>
            <a:chOff x="421714" y="859471"/>
            <a:chExt cx="4261080" cy="4616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48788"/>
              <a:ext cx="209550" cy="209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1"/>
              <a:ext cx="4060727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주요 오픈소스 프레임워크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46100" y="1638492"/>
            <a:ext cx="11099800" cy="3223985"/>
            <a:chOff x="1078235" y="3515251"/>
            <a:chExt cx="10705381" cy="4866384"/>
          </a:xfrm>
        </p:grpSpPr>
        <p:sp>
          <p:nvSpPr>
            <p:cNvPr id="11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485583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29"/>
              <a:ext cx="8478483" cy="45295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체인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에이전트 구성에 중점을 두며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로더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스플리터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임베딩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벡터 저장소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LLM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 다양한 구성 요소에 대한 광범위한 통합과 그래프 기반 오케스트레이션 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(LangGraph)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제공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LlamaIndex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특히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및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LLM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과 데이터 인터페이스에 중점을 두며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 수집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인덱싱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및 질의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(QueryEngine)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를 위한 추상화를 제공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Haystack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생성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평가를 위한 구성 요소와 사전 정의된 파이프라인 템플릿을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포함하여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NLP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파이프라인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(RAG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포함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구축에 중점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078235" y="3515251"/>
              <a:ext cx="1799895" cy="4866384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RAG </a:t>
              </a:r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오픈소스 프레임워크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842126" y="3806522"/>
              <a:ext cx="216024" cy="144016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16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404803" cy="461665"/>
            <a:chOff x="421714" y="859470"/>
            <a:chExt cx="2404803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204450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개요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3C27BD-6AE4-48ED-8824-54D01783FCB2}"/>
              </a:ext>
            </a:extLst>
          </p:cNvPr>
          <p:cNvSpPr/>
          <p:nvPr/>
        </p:nvSpPr>
        <p:spPr>
          <a:xfrm>
            <a:off x="2204617" y="1697130"/>
            <a:ext cx="7924227" cy="3062518"/>
          </a:xfrm>
          <a:prstGeom prst="rect">
            <a:avLst/>
          </a:prstGeom>
          <a:solidFill>
            <a:srgbClr val="D26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615B25-9C13-414E-8A86-78452BC5F7EA}"/>
              </a:ext>
            </a:extLst>
          </p:cNvPr>
          <p:cNvSpPr/>
          <p:nvPr/>
        </p:nvSpPr>
        <p:spPr>
          <a:xfrm>
            <a:off x="2287527" y="2269747"/>
            <a:ext cx="7751835" cy="2378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spc="-100" dirty="0">
              <a:solidFill>
                <a:srgbClr val="585858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615B25-9C13-414E-8A86-78452BC5F7EA}"/>
              </a:ext>
            </a:extLst>
          </p:cNvPr>
          <p:cNvSpPr/>
          <p:nvPr/>
        </p:nvSpPr>
        <p:spPr>
          <a:xfrm>
            <a:off x="2287527" y="3969394"/>
            <a:ext cx="7758407" cy="523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2000" b="1" spc="-100" dirty="0">
              <a:solidFill>
                <a:srgbClr val="585858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2C30AC-EC04-47FD-AF93-E2AD872650CB}"/>
              </a:ext>
            </a:extLst>
          </p:cNvPr>
          <p:cNvSpPr/>
          <p:nvPr/>
        </p:nvSpPr>
        <p:spPr>
          <a:xfrm>
            <a:off x="2204617" y="1763904"/>
            <a:ext cx="79242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LangChain</a:t>
            </a:r>
            <a:r>
              <a:rPr lang="ko-KR" altLang="en-US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이란</a:t>
            </a:r>
            <a:r>
              <a:rPr lang="en-US" altLang="ko-KR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BE2884-CC38-4EBC-AC6F-50C6E961F33C}"/>
              </a:ext>
            </a:extLst>
          </p:cNvPr>
          <p:cNvSpPr/>
          <p:nvPr/>
        </p:nvSpPr>
        <p:spPr>
          <a:xfrm>
            <a:off x="3341085" y="2481495"/>
            <a:ext cx="5811381" cy="70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algn="ctr"/>
            <a:r>
              <a:rPr lang="ko-KR" altLang="en-US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대규모 언어 모델</a:t>
            </a:r>
            <a:r>
              <a:rPr lang="en-US" altLang="ko-KR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(LLM) </a:t>
            </a:r>
            <a:r>
              <a:rPr lang="ko-KR" altLang="en-US" sz="2000" b="1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 애플리케이션 개발을 위한 오픈소스 프레임워크</a:t>
            </a:r>
            <a:endParaRPr lang="ko-KR" altLang="en-US" sz="2000" b="1" spc="-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그래픽 14">
            <a:extLst>
              <a:ext uri="{FF2B5EF4-FFF2-40B4-BE49-F238E27FC236}">
                <a16:creationId xmlns:a16="http://schemas.microsoft.com/office/drawing/2014/main" id="{D199D527-ACBA-42D2-833D-990F934A22F2}"/>
              </a:ext>
            </a:extLst>
          </p:cNvPr>
          <p:cNvSpPr/>
          <p:nvPr/>
        </p:nvSpPr>
        <p:spPr>
          <a:xfrm rot="5400000">
            <a:off x="5985753" y="3290275"/>
            <a:ext cx="361951" cy="337397"/>
          </a:xfrm>
          <a:custGeom>
            <a:avLst/>
            <a:gdLst>
              <a:gd name="connsiteX0" fmla="*/ 0 w 361950"/>
              <a:gd name="connsiteY0" fmla="*/ 44957 h 337397"/>
              <a:gd name="connsiteX1" fmla="*/ 45168 w 361950"/>
              <a:gd name="connsiteY1" fmla="*/ 15 h 337397"/>
              <a:gd name="connsiteX2" fmla="*/ 213053 w 361950"/>
              <a:gd name="connsiteY2" fmla="*/ 168699 h 337397"/>
              <a:gd name="connsiteX3" fmla="*/ 45168 w 361950"/>
              <a:gd name="connsiteY3" fmla="*/ 337398 h 337397"/>
              <a:gd name="connsiteX4" fmla="*/ 0 w 361950"/>
              <a:gd name="connsiteY4" fmla="*/ 292441 h 337397"/>
              <a:gd name="connsiteX5" fmla="*/ 123169 w 361950"/>
              <a:gd name="connsiteY5" fmla="*/ 168699 h 337397"/>
              <a:gd name="connsiteX6" fmla="*/ 0 w 361950"/>
              <a:gd name="connsiteY6" fmla="*/ 44957 h 337397"/>
              <a:gd name="connsiteX7" fmla="*/ 272066 w 361950"/>
              <a:gd name="connsiteY7" fmla="*/ 168699 h 337397"/>
              <a:gd name="connsiteX8" fmla="*/ 148897 w 361950"/>
              <a:gd name="connsiteY8" fmla="*/ 292441 h 337397"/>
              <a:gd name="connsiteX9" fmla="*/ 194066 w 361950"/>
              <a:gd name="connsiteY9" fmla="*/ 337383 h 337397"/>
              <a:gd name="connsiteX10" fmla="*/ 361950 w 361950"/>
              <a:gd name="connsiteY10" fmla="*/ 168699 h 337397"/>
              <a:gd name="connsiteX11" fmla="*/ 194066 w 361950"/>
              <a:gd name="connsiteY11" fmla="*/ 0 h 337397"/>
              <a:gd name="connsiteX12" fmla="*/ 148897 w 361950"/>
              <a:gd name="connsiteY12" fmla="*/ 44942 h 337397"/>
              <a:gd name="connsiteX13" fmla="*/ 272066 w 361950"/>
              <a:gd name="connsiteY13" fmla="*/ 168699 h 3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1950" h="337397">
                <a:moveTo>
                  <a:pt x="0" y="44957"/>
                </a:moveTo>
                <a:lnTo>
                  <a:pt x="45168" y="15"/>
                </a:lnTo>
                <a:lnTo>
                  <a:pt x="213053" y="168699"/>
                </a:lnTo>
                <a:lnTo>
                  <a:pt x="45168" y="337398"/>
                </a:lnTo>
                <a:lnTo>
                  <a:pt x="0" y="292441"/>
                </a:lnTo>
                <a:lnTo>
                  <a:pt x="123169" y="168699"/>
                </a:lnTo>
                <a:lnTo>
                  <a:pt x="0" y="44957"/>
                </a:lnTo>
                <a:close/>
                <a:moveTo>
                  <a:pt x="272066" y="168699"/>
                </a:moveTo>
                <a:lnTo>
                  <a:pt x="148897" y="292441"/>
                </a:lnTo>
                <a:lnTo>
                  <a:pt x="194066" y="337383"/>
                </a:lnTo>
                <a:lnTo>
                  <a:pt x="361950" y="168699"/>
                </a:lnTo>
                <a:lnTo>
                  <a:pt x="194066" y="0"/>
                </a:lnTo>
                <a:lnTo>
                  <a:pt x="148897" y="44942"/>
                </a:lnTo>
                <a:lnTo>
                  <a:pt x="272066" y="168699"/>
                </a:lnTo>
                <a:close/>
              </a:path>
            </a:pathLst>
          </a:custGeom>
          <a:solidFill>
            <a:srgbClr val="B2B8C5"/>
          </a:solidFill>
          <a:ln w="15081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E2884-CC38-4EBC-AC6F-50C6E961F33C}"/>
              </a:ext>
            </a:extLst>
          </p:cNvPr>
          <p:cNvSpPr/>
          <p:nvPr/>
        </p:nvSpPr>
        <p:spPr>
          <a:xfrm>
            <a:off x="2692868" y="3748871"/>
            <a:ext cx="7094286" cy="709200"/>
          </a:xfrm>
          <a:prstGeom prst="rect">
            <a:avLst/>
          </a:prstGeom>
          <a:solidFill>
            <a:srgbClr val="708B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LLM</a:t>
            </a:r>
            <a:r>
              <a:rPr lang="ko-KR" altLang="en-US" sz="2000" b="1" spc="-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다양한 외부 데이터 소스 및 기능과 통합</a:t>
            </a:r>
            <a:endParaRPr lang="ko-KR" altLang="en-US" sz="2000" b="1" spc="-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70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680519" cy="461665"/>
            <a:chOff x="421714" y="859470"/>
            <a:chExt cx="268051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48016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기능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46101" y="1638492"/>
            <a:ext cx="11099799" cy="3653176"/>
            <a:chOff x="1078236" y="3515251"/>
            <a:chExt cx="10705380" cy="14790341"/>
          </a:xfrm>
        </p:grpSpPr>
        <p:sp>
          <p:nvSpPr>
            <p:cNvPr id="17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147903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30"/>
              <a:ext cx="8643530" cy="11505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 연결 및 인식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(Data-aware applications)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LLM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다양한 외부 데이터 소스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문서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데이터베이스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API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와 연결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모델이 특정 컨텍스트나 최신 정보를 기반으로 응답하도록 지원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증강 생성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(Retrieval Augmented Generation, RAG)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핵심 기술</a:t>
              </a:r>
            </a:p>
            <a:p>
              <a:pPr lvl="0" fontAlgn="base">
                <a:lnSpc>
                  <a:spcPct val="150000"/>
                </a:lnSpc>
              </a:pPr>
              <a:endParaRPr lang="ko-KR" altLang="en-US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에이전트 기능 </a:t>
              </a:r>
              <a:r>
                <a:rPr lang="en-US" altLang="ko-KR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(Agentic applications)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</a:t>
              </a:r>
            </a:p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LLM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활용하여 주변 환경 관찰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행동 결정 및 실행하는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'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에이전트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'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구축 지원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에이전트는 도구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(tools)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를 사용하여 계산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외부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API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호출 등 다양한 작업 수행 가능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078236" y="3515251"/>
              <a:ext cx="1799894" cy="14790341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endPara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기능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586996" y="4061651"/>
              <a:ext cx="694169" cy="111901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518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680519" cy="461665"/>
            <a:chOff x="421714" y="859470"/>
            <a:chExt cx="268051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48016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기능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46101" y="1638491"/>
            <a:ext cx="11099799" cy="2781109"/>
            <a:chOff x="1078236" y="3515251"/>
            <a:chExt cx="10705380" cy="14790341"/>
          </a:xfrm>
        </p:grpSpPr>
        <p:sp>
          <p:nvSpPr>
            <p:cNvPr id="17" name="사각형: 둥근 모서리 49">
              <a:extLst>
                <a:ext uri="{FF2B5EF4-FFF2-40B4-BE49-F238E27FC236}">
                  <a16:creationId xmlns:a16="http://schemas.microsoft.com/office/drawing/2014/main" id="{CA481B6F-BF49-4E3C-995A-960A3A594B68}"/>
                </a:ext>
              </a:extLst>
            </p:cNvPr>
            <p:cNvSpPr/>
            <p:nvPr/>
          </p:nvSpPr>
          <p:spPr bwMode="auto">
            <a:xfrm>
              <a:off x="1190137" y="3515251"/>
              <a:ext cx="10593479" cy="1479034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rgbClr val="B7B7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E2CE4F2-B608-4888-BF8F-7A182DCF5610}"/>
                </a:ext>
              </a:extLst>
            </p:cNvPr>
            <p:cNvSpPr/>
            <p:nvPr/>
          </p:nvSpPr>
          <p:spPr>
            <a:xfrm>
              <a:off x="3140086" y="3639330"/>
              <a:ext cx="8643530" cy="8706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fontAlgn="base">
                <a:lnSpc>
                  <a:spcPct val="150000"/>
                </a:lnSpc>
              </a:pP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b="1" kern="600" spc="-4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모듈화 및 표준화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모듈화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LLM,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프롬프트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체인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인덱스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메모리 등 다양한 구성 요소를 모듈 형태로 제공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개발자가 필요에 따라 조합하여 복잡한 애플리케이션 구축 용이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표준화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다양한 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LLM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제공자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(OpenAI, Hugging Face, Google Vertex AI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대한 일관된     </a:t>
              </a:r>
              <a:b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</a:t>
              </a: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인터페이스 제공</a:t>
              </a:r>
            </a:p>
            <a:p>
              <a:pPr lvl="0" fontAlgn="base">
                <a:lnSpc>
                  <a:spcPct val="150000"/>
                </a:lnSpc>
              </a:pPr>
              <a:r>
                <a:rPr lang="ko-KR" altLang="en-US" b="1" kern="600" spc="-40">
                  <a:solidFill>
                    <a:srgbClr val="29292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모델 간 전환 용이성 증대</a:t>
              </a:r>
              <a:endParaRPr lang="ko-KR" altLang="en-US" b="1" kern="600" spc="-4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46178C5-DEE2-4D25-9256-D4BC1979596B}"/>
                </a:ext>
              </a:extLst>
            </p:cNvPr>
            <p:cNvSpPr/>
            <p:nvPr/>
          </p:nvSpPr>
          <p:spPr bwMode="auto">
            <a:xfrm>
              <a:off x="1078236" y="3515251"/>
              <a:ext cx="1799894" cy="14790341"/>
            </a:xfrm>
            <a:prstGeom prst="rect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</a:t>
              </a:r>
              <a:endParaRPr lang="en-US" altLang="ko-KR" sz="20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2000" b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기능</a:t>
              </a:r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C852C5A-0C25-44D8-A015-D5679C3BB6C8}"/>
                </a:ext>
              </a:extLst>
            </p:cNvPr>
            <p:cNvSpPr/>
            <p:nvPr/>
          </p:nvSpPr>
          <p:spPr bwMode="auto">
            <a:xfrm rot="5400000">
              <a:off x="2586996" y="4061651"/>
              <a:ext cx="694169" cy="111901"/>
            </a:xfrm>
            <a:prstGeom prst="triangle">
              <a:avLst/>
            </a:prstGeom>
            <a:solidFill>
              <a:srgbClr val="4B56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eaLnBrk="1" latinLnBrk="1" hangingPunct="1"/>
              <a:endParaRPr lang="ko-KR" altLang="en-US" sz="2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22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680519" cy="461665"/>
            <a:chOff x="421714" y="859470"/>
            <a:chExt cx="268051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48016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의 구조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07" y="1399799"/>
            <a:ext cx="10362197" cy="477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77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5447302" cy="461665"/>
            <a:chOff x="421714" y="859470"/>
            <a:chExt cx="5447302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5246949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프로세스</a:t>
              </a:r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-PDF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문서 예시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07" y="1399799"/>
            <a:ext cx="10362197" cy="477922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1" y="1399799"/>
            <a:ext cx="11284247" cy="455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3651939" cy="461665"/>
            <a:chOff x="421714" y="859470"/>
            <a:chExt cx="365193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34515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프로세스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27" y="1507272"/>
            <a:ext cx="7316221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1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3651939" cy="461665"/>
            <a:chOff x="421714" y="859470"/>
            <a:chExt cx="365193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34515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프로세스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1668128"/>
            <a:ext cx="10729114" cy="43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3651939" cy="461665"/>
            <a:chOff x="421714" y="859470"/>
            <a:chExt cx="365193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34515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프로세스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400" y="1663375"/>
            <a:ext cx="7344800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8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3651939" cy="461665"/>
            <a:chOff x="421714" y="859470"/>
            <a:chExt cx="365193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34515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LangChain RAG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프로세스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63" y="1542166"/>
            <a:ext cx="9278537" cy="46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6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856849" cy="461665"/>
            <a:chOff x="421714" y="859470"/>
            <a:chExt cx="2856849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65649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Document Loaders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90" y="1965701"/>
            <a:ext cx="11045578" cy="444810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76672" y="1393619"/>
            <a:ext cx="11196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Document Loaders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다양한 종류의 문서를 메모리로 로드</a:t>
            </a:r>
          </a:p>
        </p:txBody>
      </p:sp>
    </p:spTree>
    <p:extLst>
      <p:ext uri="{BB962C8B-B14F-4D97-AF65-F5344CB8AC3E}">
        <p14:creationId xmlns:p14="http://schemas.microsoft.com/office/powerpoint/2010/main" val="2231195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1816373" cy="461665"/>
            <a:chOff x="421714" y="859470"/>
            <a:chExt cx="1816373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1616020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TextSplitter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92" y="1266962"/>
            <a:ext cx="10057375" cy="508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95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329462" cy="461665"/>
            <a:chOff x="421714" y="859470"/>
            <a:chExt cx="2329462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129109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Chunk Overlap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77" y="1266962"/>
            <a:ext cx="10559627" cy="51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54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616271" cy="461665"/>
            <a:chOff x="421714" y="859470"/>
            <a:chExt cx="2616271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415918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Text Embeddings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576672" y="1393619"/>
            <a:ext cx="11196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 Embeddings 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자연어를 숫자로 변환하여 질의와 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Chunk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 유사도 비교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48" y="2030803"/>
            <a:ext cx="11095102" cy="29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54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1BC159-407F-4FA2-8EBD-4C2B180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solidFill>
                  <a:srgbClr val="383C56"/>
                </a:solidFill>
              </a:rPr>
              <a:t>(</a:t>
            </a:r>
            <a:r>
              <a:rPr lang="ko-KR" altLang="en-US" b="1">
                <a:solidFill>
                  <a:srgbClr val="383C56"/>
                </a:solidFill>
              </a:rPr>
              <a:t>참고</a:t>
            </a:r>
            <a:r>
              <a:rPr lang="en-US" altLang="ko-KR" b="1">
                <a:solidFill>
                  <a:srgbClr val="383C56"/>
                </a:solidFill>
              </a:rPr>
              <a:t>) </a:t>
            </a:r>
            <a:r>
              <a:rPr lang="ko-KR" altLang="en-US" b="1">
                <a:solidFill>
                  <a:srgbClr val="383C56"/>
                </a:solidFill>
              </a:rPr>
              <a:t> </a:t>
            </a:r>
            <a:r>
              <a:rPr lang="en-US" altLang="ko-KR" b="1">
                <a:solidFill>
                  <a:srgbClr val="383C56"/>
                </a:solidFill>
              </a:rPr>
              <a:t>LangChain</a:t>
            </a:r>
            <a:endParaRPr lang="ko-KR" altLang="en-US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B224C3-3CDA-486E-B70F-DB0806582403}"/>
              </a:ext>
            </a:extLst>
          </p:cNvPr>
          <p:cNvGrpSpPr/>
          <p:nvPr/>
        </p:nvGrpSpPr>
        <p:grpSpPr>
          <a:xfrm>
            <a:off x="421715" y="694880"/>
            <a:ext cx="2597163" cy="461665"/>
            <a:chOff x="421714" y="859470"/>
            <a:chExt cx="2597163" cy="46166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73855-1F85-4A98-9901-45E30D836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14" y="996913"/>
              <a:ext cx="209550" cy="2095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3B09A2-822B-445F-A9FD-1BA8ADA6707A}"/>
                </a:ext>
              </a:extLst>
            </p:cNvPr>
            <p:cNvSpPr txBox="1"/>
            <p:nvPr/>
          </p:nvSpPr>
          <p:spPr>
            <a:xfrm>
              <a:off x="622067" y="859470"/>
              <a:ext cx="2396810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Embedding  </a:t>
              </a:r>
              <a:r>
                <a:rPr lang="ko-KR" altLang="en-US" sz="2400" b="1" spc="-100">
                  <a:solidFill>
                    <a:srgbClr val="383C5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모델</a:t>
              </a:r>
              <a:endParaRPr lang="ko-KR" altLang="en-US" sz="2400" b="1" spc="-100" dirty="0">
                <a:solidFill>
                  <a:srgbClr val="383C56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576672" y="1393619"/>
            <a:ext cx="11196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 Embeddings 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자연어를 숫자로 변환하여 질의와 </a:t>
            </a:r>
            <a:r>
              <a:rPr lang="en-US" altLang="ko-KR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Chunk</a:t>
            </a:r>
            <a:r>
              <a:rPr lang="ko-KR" altLang="en-US" sz="2000" b="1" kern="600" spc="-40">
                <a:solidFill>
                  <a:srgbClr val="29292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 유사도 비교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48" y="2030803"/>
            <a:ext cx="11095102" cy="290526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15" y="1393619"/>
            <a:ext cx="11351185" cy="454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7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에스코어 드림 6 Bold"/>
        <a:ea typeface="에스코어 드림 5 Medium"/>
        <a:cs typeface=""/>
      </a:majorFont>
      <a:minorFont>
        <a:latin typeface="에스코어 드림 4 Regular"/>
        <a:ea typeface="에스코어 드림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35911</TotalTime>
  <Words>868</Words>
  <Application>Microsoft Office PowerPoint</Application>
  <PresentationFormat>와이드스크린</PresentationFormat>
  <Paragraphs>106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나눔고딕</vt:lpstr>
      <vt:lpstr>맑은 고딕</vt:lpstr>
      <vt:lpstr>KoPubWorld돋움체 Medium</vt:lpstr>
      <vt:lpstr>나눔스퀘어 Bold</vt:lpstr>
      <vt:lpstr>Arial</vt:lpstr>
      <vt:lpstr>Office 테마</vt:lpstr>
      <vt:lpstr>PowerPoint 프레젠테이션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RAG(Retrieval-Augmented Generation) 개요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  <vt:lpstr>(참고)  LangChain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work</dc:creator>
  <cp:lastModifiedBy>복주 김</cp:lastModifiedBy>
  <cp:revision>572</cp:revision>
  <dcterms:created xsi:type="dcterms:W3CDTF">2020-07-21T20:23:05Z</dcterms:created>
  <dcterms:modified xsi:type="dcterms:W3CDTF">2025-11-15T03:53:05Z</dcterms:modified>
</cp:coreProperties>
</file>